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7976A-1C90-FA46-9BCD-4D06CCFDBCD3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A706C-CC4B-EA47-9F28-8485E18C0D5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93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95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9A7B-981C-4FA0-B68B-A3E40F48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68149-55AE-FB58-414D-6091D2556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3FBBF-110C-8D9B-B8D4-7B4F58D9B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ADE7E-4B57-5E08-363C-B04AD1EC3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95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C62F-18A7-2420-87E3-58E9BE7E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DF607-28D7-4A68-8A9C-E0A3387C6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C98E4-3BE3-9EAD-1BD0-43DF8F44D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D7A10-8F60-8D6B-96BA-9630D7192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72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26ED-1288-F87F-1307-7C509675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31E0B-A1DE-DEF7-F681-BB9C62B7E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2598C-BE60-70E6-163A-76F7B719F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73D99-6065-B731-A7B9-8A158006D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107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E2EE-E3D4-264A-B908-9009B851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9809D-12AF-FD6E-E457-6DCCB856B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0199E-78ED-7EF6-BCB9-4CE67636B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4E99-07B0-50C0-2D50-3552AF4DE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141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D9F4-839A-7CB7-1A36-7D5D7655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BB17C-6FD0-A414-D859-2D76A2187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08551-96CD-B8DD-3D4A-437BF5547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1B558-BE41-A409-9F04-E2A23BDB7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42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5CC6-5A28-B2AA-DE0E-C8F0AD8B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79948-C499-38EC-92F2-C8C1A048C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A36D-FF48-D97C-A6A8-3550DFAAA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01ED6-659E-9CD7-ADD1-F72334017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801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44D6-CAD8-277B-6AD8-9DC9712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796CF-57F9-3C42-5F8D-27F3CD2D7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BFFA5-4E9E-1925-A2FD-7206F323B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69794-15EC-3F65-01B4-D07060A40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171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FC21-7FFB-CC93-B403-3D700776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17655-D496-6A91-002C-BFC466E32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74382-DB9C-32E7-10EA-1B000B4C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EC572-63CB-77A9-DE92-9DEBA8915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914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BD4F3-FEE0-5680-DCFC-95DA970C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F7905-D277-53D4-549E-B3FA3B1B3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D9FFD-6426-8BD3-7CD3-7BB251EE8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F947E-BE2D-0825-FA0F-EC80DEBD1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706C-CC4B-EA47-9F28-8485E18C0D5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575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C4D5-97EA-6328-4E73-F85369EC0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CBF73-E3AA-215B-7B37-A0F1752C4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EF9-95B5-B1E5-F044-B5C8BF79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BB47D-DCC9-9001-99D8-7C8A40C9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0CD2-A590-565B-EEBE-BED7DF7D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62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8C6C-A96D-8BCE-BC70-2C8E7DBB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EB1F-D527-D21F-75ED-DCC84EAFF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DDDF-E10A-03DA-6A3F-5B111263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E2E71-01F5-8BE0-862E-42FFBFF1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33A81-EA36-8E72-815A-1CCA993D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12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E447-24EF-4895-02F6-6BB55B2D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921F3-A906-4617-18B6-BEF51FBAF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401D-F93D-2631-DD31-0D6EF92B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6E8D-379D-7F47-5B54-000E8637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BE50-B722-EBE6-82AD-C04DF205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30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7751-79D8-4F2A-3D8A-0CCD7AC2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6F094-1751-D23A-6971-841860124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0A9E4-BADD-7B39-920F-10856C667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2961F-9573-ADD2-02CD-475EF562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500D5-E8FE-A3C1-273A-F9E624FA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FC52D-26E2-2B15-4525-15B1E146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82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AF7B-9B30-7973-7722-B045F2F8D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8EF10-CD7B-2620-0CB7-B12FE8590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AA1DF-1ACE-40A6-723B-966162F87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11807-9208-A883-DBF3-7A0D6629E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B6372-D903-DE16-BE9A-D5917CF2B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89917-2C02-85C0-08BA-E668C948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7953A-3298-CC51-7D63-BEB0E98F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99035E-8187-2ABF-5509-96BDAC3B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32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21DF-4775-1DB9-1316-C351A160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F977F-A361-0BEE-611C-65F33269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8B4E0-592B-1155-53CD-137A025D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2380-2554-BC55-CF5C-1403C0BD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35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37B68-6D5C-52DB-E821-F032306D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4FA89-FFF2-7823-2A0F-0EF000A7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52A1D-4D30-CC74-5A68-2305154E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73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61C9-1A27-9C39-D699-2B56A5C43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B5D7-7B17-D95D-8087-C411B517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A59A7-1B2F-3AC0-EFEA-3391A0C56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DE0B5-1199-8567-ECCA-D06936FD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ED49D-B5CB-5E86-1A05-9E0832D5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2F80E-9EA9-8C68-7A57-2AD3FF04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93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C837-3D54-978E-C696-44E5FF8A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90737-E84E-39A6-DF1C-355728A16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138BC-950A-8319-468F-2C87860A8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4C4C9-B773-6CFA-EE93-0DEA7D47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1E274-5298-A4DF-416E-83E9D60E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BBCA2-4F97-9240-6F84-5C9E0B0A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3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6B1D-FCF2-9A4D-8CBE-092B7960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5186C-0A5C-2B54-1C83-F2FFDC45B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234BE-FF32-71B2-B4AC-B9921B84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9169B-1AC4-7160-C5B9-708B60DE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2D37-74F0-00F8-5606-9D0E1AA5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55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288DC-489F-34CC-A9B3-435C672CC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02D7-FFE5-FDAD-35D0-BDA0016DA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F3BBF-F22F-3598-52A0-752D12E7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D4501-DE44-7F1B-406D-A439617E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6827-B0F1-1713-7D42-D0E4555B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751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18DDE-A259-CBAF-3F2F-CBFD1D35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3594-1B91-14FC-01B7-5C947B6D4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406A6-C42C-CC09-6748-C19C2D783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59F94-9F3F-FE45-8252-C54F71B17FD2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10FFE-C317-5554-1DC4-8A5E70CE0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4CC2C-E822-3AFE-3C04-572DBF9B6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CE4D5-4552-B94E-99DF-93EC65BBBD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18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05D5F7-F7C4-DB0B-975C-7BFE373A61BD}"/>
              </a:ext>
            </a:extLst>
          </p:cNvPr>
          <p:cNvSpPr txBox="1"/>
          <p:nvPr/>
        </p:nvSpPr>
        <p:spPr>
          <a:xfrm>
            <a:off x="2001795" y="840259"/>
            <a:ext cx="2797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My name is Tiago.</a:t>
            </a:r>
          </a:p>
        </p:txBody>
      </p:sp>
    </p:spTree>
    <p:extLst>
      <p:ext uri="{BB962C8B-B14F-4D97-AF65-F5344CB8AC3E}">
        <p14:creationId xmlns:p14="http://schemas.microsoft.com/office/powerpoint/2010/main" val="320876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A7235-C232-4A38-DB41-06E6D9B5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A75017-BEC5-D28B-1745-7D6B0D78AB3D}"/>
              </a:ext>
            </a:extLst>
          </p:cNvPr>
          <p:cNvSpPr txBox="1"/>
          <p:nvPr/>
        </p:nvSpPr>
        <p:spPr>
          <a:xfrm>
            <a:off x="7836624" y="2236571"/>
            <a:ext cx="2483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 was born here.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7C0D8-FAA2-FBCF-43F5-F11D4A86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36"/>
          <a:stretch>
            <a:fillRect/>
          </a:stretch>
        </p:blipFill>
        <p:spPr>
          <a:xfrm>
            <a:off x="0" y="0"/>
            <a:ext cx="6993924" cy="6868134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E171BA2C-24D5-AD94-6DD2-00BF2C303BAC}"/>
              </a:ext>
            </a:extLst>
          </p:cNvPr>
          <p:cNvSpPr/>
          <p:nvPr/>
        </p:nvSpPr>
        <p:spPr>
          <a:xfrm rot="2122424">
            <a:off x="6514843" y="1817673"/>
            <a:ext cx="1196909" cy="813084"/>
          </a:xfrm>
          <a:custGeom>
            <a:avLst/>
            <a:gdLst>
              <a:gd name="csX0" fmla="*/ 1196909 w 1196909"/>
              <a:gd name="csY0" fmla="*/ 141247 h 688941"/>
              <a:gd name="csX1" fmla="*/ 47730 w 1196909"/>
              <a:gd name="csY1" fmla="*/ 30036 h 688941"/>
              <a:gd name="csX2" fmla="*/ 220725 w 1196909"/>
              <a:gd name="csY2" fmla="*/ 623161 h 688941"/>
              <a:gd name="csX3" fmla="*/ 245438 w 1196909"/>
              <a:gd name="csY3" fmla="*/ 647874 h 68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96909" h="688941">
                <a:moveTo>
                  <a:pt x="1196909" y="141247"/>
                </a:moveTo>
                <a:cubicBezTo>
                  <a:pt x="703668" y="45482"/>
                  <a:pt x="210427" y="-50283"/>
                  <a:pt x="47730" y="30036"/>
                </a:cubicBezTo>
                <a:cubicBezTo>
                  <a:pt x="-114967" y="110355"/>
                  <a:pt x="187774" y="520188"/>
                  <a:pt x="220725" y="623161"/>
                </a:cubicBezTo>
                <a:cubicBezTo>
                  <a:pt x="253676" y="726134"/>
                  <a:pt x="249557" y="687004"/>
                  <a:pt x="245438" y="647874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35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D0C6C-B05F-E443-67CE-C6D6FDD7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646655-58D3-F532-2CC8-DD971DDD7FFA}"/>
              </a:ext>
            </a:extLst>
          </p:cNvPr>
          <p:cNvSpPr txBox="1"/>
          <p:nvPr/>
        </p:nvSpPr>
        <p:spPr>
          <a:xfrm>
            <a:off x="7700699" y="5329708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But I grew up here.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6BC1A-202B-38C2-FCD7-93A2E3B31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36"/>
          <a:stretch>
            <a:fillRect/>
          </a:stretch>
        </p:blipFill>
        <p:spPr>
          <a:xfrm>
            <a:off x="0" y="0"/>
            <a:ext cx="6993924" cy="6868134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6228AD8-DB27-6F34-E227-F24ECE6EEFAF}"/>
              </a:ext>
            </a:extLst>
          </p:cNvPr>
          <p:cNvSpPr/>
          <p:nvPr/>
        </p:nvSpPr>
        <p:spPr>
          <a:xfrm>
            <a:off x="4707924" y="5560541"/>
            <a:ext cx="2656703" cy="533029"/>
          </a:xfrm>
          <a:custGeom>
            <a:avLst/>
            <a:gdLst>
              <a:gd name="csX0" fmla="*/ 0 w 2656703"/>
              <a:gd name="csY0" fmla="*/ 0 h 533029"/>
              <a:gd name="csX1" fmla="*/ 1346887 w 2656703"/>
              <a:gd name="csY1" fmla="*/ 531340 h 533029"/>
              <a:gd name="csX2" fmla="*/ 2656703 w 2656703"/>
              <a:gd name="csY2" fmla="*/ 135924 h 533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56703" h="533029">
                <a:moveTo>
                  <a:pt x="0" y="0"/>
                </a:moveTo>
                <a:cubicBezTo>
                  <a:pt x="452051" y="254343"/>
                  <a:pt x="904103" y="508686"/>
                  <a:pt x="1346887" y="531340"/>
                </a:cubicBezTo>
                <a:cubicBezTo>
                  <a:pt x="1789671" y="553994"/>
                  <a:pt x="2223187" y="344959"/>
                  <a:pt x="2656703" y="135924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68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2970F-EB81-8E80-748F-8262C29F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1F9D4-54FA-8A1A-BC72-E90F74BE9268}"/>
              </a:ext>
            </a:extLst>
          </p:cNvPr>
          <p:cNvSpPr txBox="1"/>
          <p:nvPr/>
        </p:nvSpPr>
        <p:spPr>
          <a:xfrm>
            <a:off x="7700699" y="5329708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Imbituba, SC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303FA-B304-6AFC-CE3E-BE9ACA81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36"/>
          <a:stretch>
            <a:fillRect/>
          </a:stretch>
        </p:blipFill>
        <p:spPr>
          <a:xfrm>
            <a:off x="0" y="0"/>
            <a:ext cx="6993924" cy="6868134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AD21B63C-954A-4838-ADDE-4135FFDD6B46}"/>
              </a:ext>
            </a:extLst>
          </p:cNvPr>
          <p:cNvSpPr/>
          <p:nvPr/>
        </p:nvSpPr>
        <p:spPr>
          <a:xfrm>
            <a:off x="4707924" y="5560541"/>
            <a:ext cx="2656703" cy="533029"/>
          </a:xfrm>
          <a:custGeom>
            <a:avLst/>
            <a:gdLst>
              <a:gd name="csX0" fmla="*/ 0 w 2656703"/>
              <a:gd name="csY0" fmla="*/ 0 h 533029"/>
              <a:gd name="csX1" fmla="*/ 1346887 w 2656703"/>
              <a:gd name="csY1" fmla="*/ 531340 h 533029"/>
              <a:gd name="csX2" fmla="*/ 2656703 w 2656703"/>
              <a:gd name="csY2" fmla="*/ 135924 h 533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56703" h="533029">
                <a:moveTo>
                  <a:pt x="0" y="0"/>
                </a:moveTo>
                <a:cubicBezTo>
                  <a:pt x="452051" y="254343"/>
                  <a:pt x="904103" y="508686"/>
                  <a:pt x="1346887" y="531340"/>
                </a:cubicBezTo>
                <a:cubicBezTo>
                  <a:pt x="1789671" y="553994"/>
                  <a:pt x="2223187" y="344959"/>
                  <a:pt x="2656703" y="135924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C6611-0E84-8468-5356-596394BBE515}"/>
              </a:ext>
            </a:extLst>
          </p:cNvPr>
          <p:cNvSpPr txBox="1"/>
          <p:nvPr/>
        </p:nvSpPr>
        <p:spPr>
          <a:xfrm>
            <a:off x="7836624" y="2236571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Recife, PE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2074C1C-61A9-0EF2-885E-E76157C5C046}"/>
              </a:ext>
            </a:extLst>
          </p:cNvPr>
          <p:cNvSpPr/>
          <p:nvPr/>
        </p:nvSpPr>
        <p:spPr>
          <a:xfrm rot="2122424">
            <a:off x="6514843" y="1817673"/>
            <a:ext cx="1196909" cy="813084"/>
          </a:xfrm>
          <a:custGeom>
            <a:avLst/>
            <a:gdLst>
              <a:gd name="csX0" fmla="*/ 1196909 w 1196909"/>
              <a:gd name="csY0" fmla="*/ 141247 h 688941"/>
              <a:gd name="csX1" fmla="*/ 47730 w 1196909"/>
              <a:gd name="csY1" fmla="*/ 30036 h 688941"/>
              <a:gd name="csX2" fmla="*/ 220725 w 1196909"/>
              <a:gd name="csY2" fmla="*/ 623161 h 688941"/>
              <a:gd name="csX3" fmla="*/ 245438 w 1196909"/>
              <a:gd name="csY3" fmla="*/ 647874 h 68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96909" h="688941">
                <a:moveTo>
                  <a:pt x="1196909" y="141247"/>
                </a:moveTo>
                <a:cubicBezTo>
                  <a:pt x="703668" y="45482"/>
                  <a:pt x="210427" y="-50283"/>
                  <a:pt x="47730" y="30036"/>
                </a:cubicBezTo>
                <a:cubicBezTo>
                  <a:pt x="-114967" y="110355"/>
                  <a:pt x="187774" y="520188"/>
                  <a:pt x="220725" y="623161"/>
                </a:cubicBezTo>
                <a:cubicBezTo>
                  <a:pt x="253676" y="726134"/>
                  <a:pt x="249557" y="687004"/>
                  <a:pt x="245438" y="647874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46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E7CB6-ABB4-BDE4-1518-28B31C3C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7C0805-BE5A-A011-1923-ED979D76DFD5}"/>
              </a:ext>
            </a:extLst>
          </p:cNvPr>
          <p:cNvSpPr txBox="1"/>
          <p:nvPr/>
        </p:nvSpPr>
        <p:spPr>
          <a:xfrm>
            <a:off x="7700699" y="5329708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Imbituba, 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76E4C-0177-AA08-3020-CA981D1FE499}"/>
              </a:ext>
            </a:extLst>
          </p:cNvPr>
          <p:cNvSpPr txBox="1"/>
          <p:nvPr/>
        </p:nvSpPr>
        <p:spPr>
          <a:xfrm>
            <a:off x="1374039" y="1465989"/>
            <a:ext cx="3197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Did basic and intermediate English there, during </a:t>
            </a: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many years.</a:t>
            </a:r>
          </a:p>
        </p:txBody>
      </p:sp>
    </p:spTree>
    <p:extLst>
      <p:ext uri="{BB962C8B-B14F-4D97-AF65-F5344CB8AC3E}">
        <p14:creationId xmlns:p14="http://schemas.microsoft.com/office/powerpoint/2010/main" val="282015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874CA-86D1-4948-FB58-E63A0DCF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2F5BF5-C03C-CA5B-E370-0022659256C3}"/>
              </a:ext>
            </a:extLst>
          </p:cNvPr>
          <p:cNvSpPr txBox="1"/>
          <p:nvPr/>
        </p:nvSpPr>
        <p:spPr>
          <a:xfrm>
            <a:off x="7700699" y="5329708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Imbituba, 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57EFD-0604-ADD0-F765-7550758817DE}"/>
              </a:ext>
            </a:extLst>
          </p:cNvPr>
          <p:cNvSpPr txBox="1"/>
          <p:nvPr/>
        </p:nvSpPr>
        <p:spPr>
          <a:xfrm>
            <a:off x="1374039" y="1465989"/>
            <a:ext cx="3197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Did basic and intermediate English there, during </a:t>
            </a: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many years.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F0AA9-C503-4F9D-B2D4-19B973F2FED4}"/>
              </a:ext>
            </a:extLst>
          </p:cNvPr>
          <p:cNvSpPr txBox="1"/>
          <p:nvPr/>
        </p:nvSpPr>
        <p:spPr>
          <a:xfrm>
            <a:off x="7146234" y="1465989"/>
            <a:ext cx="3197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Then we received a German exchange student, who stayed with us for one year.</a:t>
            </a:r>
          </a:p>
        </p:txBody>
      </p:sp>
    </p:spTree>
    <p:extLst>
      <p:ext uri="{BB962C8B-B14F-4D97-AF65-F5344CB8AC3E}">
        <p14:creationId xmlns:p14="http://schemas.microsoft.com/office/powerpoint/2010/main" val="304170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2258D-F66B-A959-4C70-8C5F7A3C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BB1692-3D7A-BC07-74FC-EDA377904430}"/>
              </a:ext>
            </a:extLst>
          </p:cNvPr>
          <p:cNvSpPr txBox="1"/>
          <p:nvPr/>
        </p:nvSpPr>
        <p:spPr>
          <a:xfrm>
            <a:off x="7700699" y="5329708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Imbituba, 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C6FE6-12C5-765B-AB96-1E94A94D3C29}"/>
              </a:ext>
            </a:extLst>
          </p:cNvPr>
          <p:cNvSpPr txBox="1"/>
          <p:nvPr/>
        </p:nvSpPr>
        <p:spPr>
          <a:xfrm>
            <a:off x="1374039" y="1465989"/>
            <a:ext cx="3197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Did basic and intermediate English there, during </a:t>
            </a:r>
          </a:p>
          <a:p>
            <a:r>
              <a:rPr lang="en-US" sz="2400" b="1" noProof="1">
                <a:solidFill>
                  <a:srgbClr val="FFFF00"/>
                </a:solidFill>
                <a:latin typeface="Century Schoolbook" panose="02040604050505020304" pitchFamily="18" charset="0"/>
              </a:rPr>
              <a:t>many years</a:t>
            </a:r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B7CE6-8CBA-73BE-BBD5-9E7555FF5006}"/>
              </a:ext>
            </a:extLst>
          </p:cNvPr>
          <p:cNvSpPr txBox="1"/>
          <p:nvPr/>
        </p:nvSpPr>
        <p:spPr>
          <a:xfrm>
            <a:off x="7146234" y="1465989"/>
            <a:ext cx="33322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Then we received a German exchange student, who stayed with us for </a:t>
            </a:r>
            <a:r>
              <a:rPr lang="en-US" sz="2400" b="1" noProof="1">
                <a:solidFill>
                  <a:srgbClr val="FFFF00"/>
                </a:solidFill>
                <a:latin typeface="Century Schoolbook" panose="02040604050505020304" pitchFamily="18" charset="0"/>
              </a:rPr>
              <a:t>one year</a:t>
            </a:r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C6FF6-69EA-DDE0-A4DA-8ED8E2BE4C57}"/>
              </a:ext>
            </a:extLst>
          </p:cNvPr>
          <p:cNvSpPr txBox="1"/>
          <p:nvPr/>
        </p:nvSpPr>
        <p:spPr>
          <a:xfrm>
            <a:off x="4014340" y="316983"/>
            <a:ext cx="416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rgbClr val="FFFF00"/>
                </a:solidFill>
                <a:latin typeface="Century Schoolbook" panose="02040604050505020304" pitchFamily="18" charset="0"/>
              </a:rPr>
              <a:t>Impact on my English skills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24C30-8AA0-5480-B8A1-82CC72824DC3}"/>
              </a:ext>
            </a:extLst>
          </p:cNvPr>
          <p:cNvSpPr txBox="1"/>
          <p:nvPr/>
        </p:nvSpPr>
        <p:spPr>
          <a:xfrm>
            <a:off x="5424618" y="1933488"/>
            <a:ext cx="556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1">
                <a:solidFill>
                  <a:srgbClr val="FFFF00"/>
                </a:solidFill>
                <a:latin typeface="Century Schoolbook" panose="02040604050505020304" pitchFamily="18" charset="0"/>
              </a:rPr>
              <a:t>&lt;&lt;</a:t>
            </a:r>
          </a:p>
        </p:txBody>
      </p:sp>
    </p:spTree>
    <p:extLst>
      <p:ext uri="{BB962C8B-B14F-4D97-AF65-F5344CB8AC3E}">
        <p14:creationId xmlns:p14="http://schemas.microsoft.com/office/powerpoint/2010/main" val="284953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CB3DA-1F80-11EB-FE02-CB9050EF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4EFF30-6BF5-0013-6F01-90B8EF60E44A}"/>
              </a:ext>
            </a:extLst>
          </p:cNvPr>
          <p:cNvSpPr txBox="1"/>
          <p:nvPr/>
        </p:nvSpPr>
        <p:spPr>
          <a:xfrm>
            <a:off x="7836624" y="2236571"/>
            <a:ext cx="3605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At some point I went back here. High school and university (Electronics Engineering).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4F6D6A-AF59-1B96-F313-3D16E68B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36"/>
          <a:stretch>
            <a:fillRect/>
          </a:stretch>
        </p:blipFill>
        <p:spPr>
          <a:xfrm>
            <a:off x="0" y="0"/>
            <a:ext cx="6993924" cy="6868134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93F76445-6E53-545B-D30A-C83558CBAECC}"/>
              </a:ext>
            </a:extLst>
          </p:cNvPr>
          <p:cNvSpPr/>
          <p:nvPr/>
        </p:nvSpPr>
        <p:spPr>
          <a:xfrm rot="2122424">
            <a:off x="6514843" y="1817673"/>
            <a:ext cx="1196909" cy="813084"/>
          </a:xfrm>
          <a:custGeom>
            <a:avLst/>
            <a:gdLst>
              <a:gd name="csX0" fmla="*/ 1196909 w 1196909"/>
              <a:gd name="csY0" fmla="*/ 141247 h 688941"/>
              <a:gd name="csX1" fmla="*/ 47730 w 1196909"/>
              <a:gd name="csY1" fmla="*/ 30036 h 688941"/>
              <a:gd name="csX2" fmla="*/ 220725 w 1196909"/>
              <a:gd name="csY2" fmla="*/ 623161 h 688941"/>
              <a:gd name="csX3" fmla="*/ 245438 w 1196909"/>
              <a:gd name="csY3" fmla="*/ 647874 h 688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96909" h="688941">
                <a:moveTo>
                  <a:pt x="1196909" y="141247"/>
                </a:moveTo>
                <a:cubicBezTo>
                  <a:pt x="703668" y="45482"/>
                  <a:pt x="210427" y="-50283"/>
                  <a:pt x="47730" y="30036"/>
                </a:cubicBezTo>
                <a:cubicBezTo>
                  <a:pt x="-114967" y="110355"/>
                  <a:pt x="187774" y="520188"/>
                  <a:pt x="220725" y="623161"/>
                </a:cubicBezTo>
                <a:cubicBezTo>
                  <a:pt x="253676" y="726134"/>
                  <a:pt x="249557" y="687004"/>
                  <a:pt x="245438" y="647874"/>
                </a:cubicBezTo>
              </a:path>
            </a:pathLst>
          </a:custGeom>
          <a:noFill/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56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E223-8BF3-3115-F41D-C5C2C996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1E03E8-5D20-3382-80AB-B77D20BD6301}"/>
              </a:ext>
            </a:extLst>
          </p:cNvPr>
          <p:cNvSpPr txBox="1"/>
          <p:nvPr/>
        </p:nvSpPr>
        <p:spPr>
          <a:xfrm>
            <a:off x="7836624" y="444841"/>
            <a:ext cx="36057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And then I got a scholarship and went to France, for an exchange year.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44DDB-AFEA-9526-7D2E-5F4418E0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D354DD8-4BD0-9B42-27B0-1E971F34E917}"/>
              </a:ext>
            </a:extLst>
          </p:cNvPr>
          <p:cNvSpPr/>
          <p:nvPr/>
        </p:nvSpPr>
        <p:spPr>
          <a:xfrm>
            <a:off x="3250801" y="2273643"/>
            <a:ext cx="1963750" cy="3089189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307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1892E-5A10-B08E-A902-10CEA462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541B95-19A3-871F-A86E-955FFA4896C5}"/>
              </a:ext>
            </a:extLst>
          </p:cNvPr>
          <p:cNvSpPr txBox="1"/>
          <p:nvPr/>
        </p:nvSpPr>
        <p:spPr>
          <a:xfrm>
            <a:off x="7836624" y="444841"/>
            <a:ext cx="36057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And then I got a scholarship and went to France, for an exchange year.</a:t>
            </a:r>
          </a:p>
          <a:p>
            <a:endParaRPr lang="en-US" sz="2400" noProof="1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(not much English here. But it helped to make many American friends – and a girlfriend)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45CDB-9728-70C1-5610-A460A32E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B61225B0-586B-46DD-1729-E2D9A4D1BF95}"/>
              </a:ext>
            </a:extLst>
          </p:cNvPr>
          <p:cNvSpPr/>
          <p:nvPr/>
        </p:nvSpPr>
        <p:spPr>
          <a:xfrm>
            <a:off x="3250801" y="2273643"/>
            <a:ext cx="1963750" cy="3089189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1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629ED-1EB3-43D8-F8F0-D8CC4D0A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1EC1F3-899D-2C21-CA24-1AA16E5E3A60}"/>
              </a:ext>
            </a:extLst>
          </p:cNvPr>
          <p:cNvSpPr txBox="1"/>
          <p:nvPr/>
        </p:nvSpPr>
        <p:spPr>
          <a:xfrm>
            <a:off x="7836624" y="444841"/>
            <a:ext cx="3605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Came back to finish my University degree… </a:t>
            </a:r>
          </a:p>
          <a:p>
            <a:endParaRPr lang="en-US" sz="2400" noProof="1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But then, before graduation…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DBAFF-F5D6-F8BA-8AA3-850AC9AED5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0A3C0D01-431D-A594-3376-71A6F4941D89}"/>
              </a:ext>
            </a:extLst>
          </p:cNvPr>
          <p:cNvSpPr/>
          <p:nvPr/>
        </p:nvSpPr>
        <p:spPr>
          <a:xfrm>
            <a:off x="3250801" y="2273643"/>
            <a:ext cx="1963750" cy="3089189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stealth" w="lg" len="lg"/>
            <a:tailEnd type="non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95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8E369-4C8F-E0E9-FE32-15858D5B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8F8771-A2DD-AE01-61AE-88C03A5899B1}"/>
              </a:ext>
            </a:extLst>
          </p:cNvPr>
          <p:cNvSpPr txBox="1"/>
          <p:nvPr/>
        </p:nvSpPr>
        <p:spPr>
          <a:xfrm>
            <a:off x="7836624" y="444841"/>
            <a:ext cx="360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 went to Germany to do </a:t>
            </a:r>
            <a:r>
              <a:rPr lang="en-US" sz="2400" strike="sngStrike" noProof="1">
                <a:solidFill>
                  <a:schemeClr val="bg1"/>
                </a:solidFill>
                <a:latin typeface="Century Schoolbook" panose="02040604050505020304" pitchFamily="18" charset="0"/>
              </a:rPr>
              <a:t>one</a:t>
            </a:r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 two internships.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ADBAC-99C2-4EC3-06B0-FAB09A7F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5DE130F2-AF0D-32E4-054B-E95A2665E7FF}"/>
              </a:ext>
            </a:extLst>
          </p:cNvPr>
          <p:cNvSpPr/>
          <p:nvPr/>
        </p:nvSpPr>
        <p:spPr>
          <a:xfrm>
            <a:off x="3250800" y="1878227"/>
            <a:ext cx="2433307" cy="3484605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36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EF795-8546-E625-5076-4398DCEA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7C7A9D-024E-7BB1-BAD4-8686FAB10510}"/>
              </a:ext>
            </a:extLst>
          </p:cNvPr>
          <p:cNvSpPr txBox="1"/>
          <p:nvPr/>
        </p:nvSpPr>
        <p:spPr>
          <a:xfrm>
            <a:off x="7836624" y="444841"/>
            <a:ext cx="3605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 went to Germany to do </a:t>
            </a:r>
            <a:r>
              <a:rPr lang="en-US" sz="2400" strike="sngStrike" noProof="1">
                <a:solidFill>
                  <a:schemeClr val="bg1"/>
                </a:solidFill>
                <a:latin typeface="Century Schoolbook" panose="02040604050505020304" pitchFamily="18" charset="0"/>
              </a:rPr>
              <a:t>one</a:t>
            </a:r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 two internships.</a:t>
            </a:r>
          </a:p>
          <a:p>
            <a:endParaRPr lang="en-US" sz="2400" noProof="1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(English helped me a lot here, I actually didn’t speak any German)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69675-7BFE-CB39-59E2-4D8EBE61E7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D84600C3-E188-92DE-67B7-B6B74EC014ED}"/>
              </a:ext>
            </a:extLst>
          </p:cNvPr>
          <p:cNvSpPr/>
          <p:nvPr/>
        </p:nvSpPr>
        <p:spPr>
          <a:xfrm>
            <a:off x="3250800" y="1878227"/>
            <a:ext cx="2433307" cy="3484605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9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B654D-4EF4-4BD9-02A6-744EEE5D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9843F1-0765-0612-9F5A-8B8F66751325}"/>
              </a:ext>
            </a:extLst>
          </p:cNvPr>
          <p:cNvSpPr txBox="1"/>
          <p:nvPr/>
        </p:nvSpPr>
        <p:spPr>
          <a:xfrm>
            <a:off x="7836624" y="444841"/>
            <a:ext cx="3605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I went to Germany for </a:t>
            </a:r>
            <a:r>
              <a:rPr lang="en-US" sz="2400" strike="sngStrike" noProof="1">
                <a:solidFill>
                  <a:schemeClr val="bg1"/>
                </a:solidFill>
                <a:latin typeface="Century Schoolbook" panose="02040604050505020304" pitchFamily="18" charset="0"/>
              </a:rPr>
              <a:t>one</a:t>
            </a:r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 two internships.</a:t>
            </a:r>
          </a:p>
          <a:p>
            <a:endParaRPr lang="en-US" sz="2400" noProof="1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(English helped me a lot here, I actually didn’t speak any German)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B2101-8565-B633-36FB-373C35CA4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81"/>
          <a:stretch>
            <a:fillRect/>
          </a:stretch>
        </p:blipFill>
        <p:spPr>
          <a:xfrm>
            <a:off x="0" y="-1"/>
            <a:ext cx="6993924" cy="6872905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495ABC3D-A741-718A-DF0F-0ABE5F7EB0ED}"/>
              </a:ext>
            </a:extLst>
          </p:cNvPr>
          <p:cNvSpPr/>
          <p:nvPr/>
        </p:nvSpPr>
        <p:spPr>
          <a:xfrm>
            <a:off x="3250800" y="1878227"/>
            <a:ext cx="2433307" cy="3484605"/>
          </a:xfrm>
          <a:custGeom>
            <a:avLst/>
            <a:gdLst>
              <a:gd name="csX0" fmla="*/ 36096 w 1963750"/>
              <a:gd name="csY0" fmla="*/ 3089189 h 3089189"/>
              <a:gd name="csX1" fmla="*/ 258518 w 1963750"/>
              <a:gd name="csY1" fmla="*/ 605481 h 3089189"/>
              <a:gd name="csX2" fmla="*/ 1963750 w 1963750"/>
              <a:gd name="csY2" fmla="*/ 0 h 30891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63750" h="3089189">
                <a:moveTo>
                  <a:pt x="36096" y="3089189"/>
                </a:moveTo>
                <a:cubicBezTo>
                  <a:pt x="-13331" y="2104767"/>
                  <a:pt x="-62758" y="1120346"/>
                  <a:pt x="258518" y="605481"/>
                </a:cubicBezTo>
                <a:cubicBezTo>
                  <a:pt x="579794" y="90616"/>
                  <a:pt x="1271772" y="45308"/>
                  <a:pt x="1963750" y="0"/>
                </a:cubicBezTo>
              </a:path>
            </a:pathLst>
          </a:custGeom>
          <a:noFill/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D355B-C322-4127-9A1B-BFB298C19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404" y="3323968"/>
            <a:ext cx="2661702" cy="354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86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960D0-1910-27DB-EE16-F10EEAA4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077310-67B4-15C6-90CB-185F863AE4CB}"/>
              </a:ext>
            </a:extLst>
          </p:cNvPr>
          <p:cNvSpPr txBox="1"/>
          <p:nvPr/>
        </p:nvSpPr>
        <p:spPr>
          <a:xfrm>
            <a:off x="706775" y="481912"/>
            <a:ext cx="6361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Came back to Brazil, moved to Brasilia, started working for the government.</a:t>
            </a:r>
          </a:p>
          <a:p>
            <a:endParaRPr lang="en-US" sz="2400" noProof="1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Having a good command of English opened many doors for me (interaction with foreign officials, international organizations such as The World Bank, OECD etc.).</a:t>
            </a:r>
          </a:p>
        </p:txBody>
      </p:sp>
    </p:spTree>
    <p:extLst>
      <p:ext uri="{BB962C8B-B14F-4D97-AF65-F5344CB8AC3E}">
        <p14:creationId xmlns:p14="http://schemas.microsoft.com/office/powerpoint/2010/main" val="2205440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8CCEE-5D7E-76CF-E0F9-5A1E6895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26BC8B-63EA-A350-C389-B85DCBFDD110}"/>
              </a:ext>
            </a:extLst>
          </p:cNvPr>
          <p:cNvSpPr txBox="1"/>
          <p:nvPr/>
        </p:nvSpPr>
        <p:spPr>
          <a:xfrm>
            <a:off x="706775" y="481912"/>
            <a:ext cx="4248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And then, two decades later… I went to Sweden for a Master’s Degree in Interactive Media Technology, at the Royal Institute of Technology.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3C531EA-A647-A577-2656-D651C1059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1702B6-3700-74ED-72D4-E3EF876EC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76" y="3209727"/>
            <a:ext cx="4860324" cy="3648273"/>
          </a:xfrm>
          <a:prstGeom prst="rect">
            <a:avLst/>
          </a:prstGeom>
        </p:spPr>
      </p:pic>
      <p:pic>
        <p:nvPicPr>
          <p:cNvPr id="2052" name="Picture 4" descr="KTH Royal Institute of Technology ...">
            <a:extLst>
              <a:ext uri="{FF2B5EF4-FFF2-40B4-BE49-F238E27FC236}">
                <a16:creationId xmlns:a16="http://schemas.microsoft.com/office/drawing/2014/main" id="{3052D9DF-E6D0-592B-FA7E-92E4A3727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717" y="3353488"/>
            <a:ext cx="2692400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TH Royal Institute of Technology ...">
            <a:extLst>
              <a:ext uri="{FF2B5EF4-FFF2-40B4-BE49-F238E27FC236}">
                <a16:creationId xmlns:a16="http://schemas.microsoft.com/office/drawing/2014/main" id="{3194EE4A-3631-C865-80EA-58D2E6085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058" y="166300"/>
            <a:ext cx="5696465" cy="379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408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68A9D-1ECA-2907-F84C-49D1C7CE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640585-867D-2133-2522-FF8B0E18CCFC}"/>
              </a:ext>
            </a:extLst>
          </p:cNvPr>
          <p:cNvSpPr txBox="1"/>
          <p:nvPr/>
        </p:nvSpPr>
        <p:spPr>
          <a:xfrm>
            <a:off x="3971858" y="2491770"/>
            <a:ext cx="4248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1">
                <a:solidFill>
                  <a:schemeClr val="bg1"/>
                </a:solidFill>
                <a:latin typeface="Century Schoolbook" panose="02040604050505020304" pitchFamily="18" charset="0"/>
              </a:rPr>
              <a:t>When it comes to living abroad, even when things go wrong, it’s almost always still a great experience.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5C2144A-1E54-72BB-E998-57796081A3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36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64A43-8CDC-290D-846F-C2C9EACA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rse Drawing Meme Template &amp; Meme Generator [FREE]">
            <a:extLst>
              <a:ext uri="{FF2B5EF4-FFF2-40B4-BE49-F238E27FC236}">
                <a16:creationId xmlns:a16="http://schemas.microsoft.com/office/drawing/2014/main" id="{51A2B6A0-097B-C4AA-5D60-4D1F69C6D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577850"/>
            <a:ext cx="101600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23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343</Words>
  <Application>Microsoft Macintosh PowerPoint</Application>
  <PresentationFormat>Widescreen</PresentationFormat>
  <Paragraphs>48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Maranhao Barreto Pereira</dc:creator>
  <cp:lastModifiedBy>Tiago Maranhao Barreto Pereira</cp:lastModifiedBy>
  <cp:revision>2</cp:revision>
  <dcterms:created xsi:type="dcterms:W3CDTF">2026-04-13T20:05:47Z</dcterms:created>
  <dcterms:modified xsi:type="dcterms:W3CDTF">2026-04-13T20:46:10Z</dcterms:modified>
</cp:coreProperties>
</file>